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6AA4A-6EF4-F868-8966-7AEE38925C9A}" v="12" dt="2026-10-14T08:41:57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>
              <a:srgbClr val="FF9F1C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5C6878"/>
              </a:solidFill>
            </c:spPr>
            <c:extLst>
              <c:ext xmlns:c16="http://schemas.microsoft.com/office/drawing/2014/chart" uri="{C3380CC4-5D6E-409C-BE32-E72D297353CC}">
                <c16:uniqueId val="{00000001-3CCC-4368-8A99-3E776B89D50A}"/>
              </c:ext>
            </c:extLst>
          </c:dPt>
          <c:dPt>
            <c:idx val="1"/>
            <c:invertIfNegative val="1"/>
            <c:bubble3D val="0"/>
            <c:spPr>
              <a:solidFill>
                <a:srgbClr val="00F5D4"/>
              </a:solidFill>
            </c:spPr>
            <c:extLst>
              <c:ext xmlns:c16="http://schemas.microsoft.com/office/drawing/2014/chart" uri="{C3380CC4-5D6E-409C-BE32-E72D297353CC}">
                <c16:uniqueId val="{00000003-3CCC-4368-8A99-3E776B89D50A}"/>
              </c:ext>
            </c:extLst>
          </c:dPt>
          <c:dPt>
            <c:idx val="2"/>
            <c:invertIfNegative val="1"/>
            <c:bubble3D val="0"/>
            <c:spPr>
              <a:solidFill>
                <a:srgbClr val="00F5D4"/>
              </a:solidFill>
            </c:spPr>
            <c:extLst>
              <c:ext xmlns:c16="http://schemas.microsoft.com/office/drawing/2014/chart" uri="{C3380CC4-5D6E-409C-BE32-E72D297353CC}">
                <c16:uniqueId val="{00000005-3CCC-4368-8A99-3E776B89D50A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3CCC-4368-8A99-3E776B89D50A}"/>
              </c:ext>
            </c:extLst>
          </c:dPt>
          <c:dLbls>
            <c:delete val="1"/>
          </c:dLbls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0.0</c:formatCode>
              <c:ptCount val="4"/>
              <c:pt idx="0">
                <c:v>0</c:v>
              </c:pt>
              <c:pt idx="1">
                <c:v>0.32</c:v>
              </c:pt>
              <c:pt idx="2">
                <c:v>1.55</c:v>
              </c:pt>
              <c:pt idx="3">
                <c:v>4.25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CCC-4368-8A99-3E776B89D5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5C6878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F5F7F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w="9525">
              <a:solidFill>
                <a:srgbClr val="263243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solidFill>
              <a:srgbClr val="0B0F17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AAB4C3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B0F17"/>
        </a:solidFill>
        <a:ln w="0">
          <a:solidFill>
            <a:srgbClr val="0B0F17"/>
          </a:solidFill>
          <a:prstDash val="solid"/>
        </a:ln>
      </c:spPr>
    </c:plotArea>
    <c:plotVisOnly val="1"/>
    <c:dispBlanksAs val="zero"/>
    <c:showDLblsOverMax val="1"/>
  </c:chart>
  <c:spPr>
    <a:solidFill>
      <a:srgbClr val="0B0F17"/>
    </a:solidFill>
    <a:ln w="0">
      <a:solidFill>
        <a:srgbClr val="0B0F17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763F3-508F-473F-97FA-4918AE808461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A8C2E-EA60-4B7E-B5E1-03057739AC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5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TasteChain BKK combines Bangkok-scale restaurant data, AI discovery, verified visits, and automatic revenue sharing—while keeping the user experience as simple as a familiar chat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imbalance is clear: diners cannot trust discovery, creators contribute without economic upside, and merchants pay without knowing whether traffic reaches the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never sees Web3 complexity. They ask, dine, verify with location and a receipt, then receive reputation and any earned reward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moat is the combination: a Bangkok-scale seed dataset, five AI capabilities that create useful context, and verifiable rails that make reviews and rewards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flywheel starts with better discovery, but it compounds through verification. More proof improves the graph, stronger reputation attracts creators, and merchants pay for outcomes rather than impressions.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collectible is reputation infrastructure, not a tradable token. It proves category expertise, unlocks access, and gives local guides durable recognition tied to verified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start with a narrow geographic wedge, but the value pool is meaningful: restaurant spend, tourism demand, and merchant marketing. These figures are the project model and should be validated before external fundraising.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not a token-dependent business. Four revenue streams are funded by measurable merchant outcomes, recurring software value, and brand demand for verified 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Maps have breadth, food apps have transactions, and social video has reach. TasteChain combines deeper intent, verifiable visits, and direct economic participation in one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will not launch everywhere. We seed three dense food districts, turn discovery into a repeatable game, monetize when merchants see verified traffic, then expand across Bangkok with B2B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year-one model requires 750 paying merchants—0.75% of the stated 100,000-record base. The quarterly ramp totals approximately 6.12 million baht in net platform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are seeking an ecosystem grant or strategic partners across infrastructure, payments and restaurant distribution. The indicative range and allocation are founder-provided placeholders to confirm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B0F17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571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HACKATHON PITCH  •  BANGKOK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876300" cy="38100"/>
          </a:xfrm>
          <a:prstGeom prst="rect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6572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3000"/>
              </a:lnSpc>
              <a:buNone/>
              <a:defRPr sz="5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TasteChain</a:t>
            </a:r>
          </a:p>
          <a:p>
            <a:pPr algn="l">
              <a:lnSpc>
                <a:spcPct val="83000"/>
              </a:lnSpc>
              <a:buNone/>
              <a:defRPr sz="5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BKK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2943225"/>
            <a:ext cx="581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1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The AI-powered &amp; trustless</a:t>
            </a:r>
          </a:p>
          <a:p>
            <a:pPr algn="l">
              <a:lnSpc>
                <a:spcPct val="95000"/>
              </a:lnSpc>
              <a:buNone/>
              <a:defRPr sz="21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gastronomy protocol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561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Turn 100,000+ Bangkok restaurant records into a verified discovery graph—and share real merchant revenue with the people who make it useful.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5619750" cy="9525"/>
          </a:xfrm>
          <a:prstGeom prst="rect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AI HYPER-CURATION   /   PROOF-OF-VISIT   /   REAL-YIELD REWARDS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TASTE WHAT YOU CAN VERIFY.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00000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0858500" y="971550"/>
            <a:ext cx="152400" cy="1524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00000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1210925" y="1304925"/>
            <a:ext cx="95250" cy="9525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0934700" y="1038225"/>
            <a:ext cx="476250" cy="19050"/>
          </a:xfrm>
          <a:prstGeom prst="rect">
            <a:avLst/>
          </a:prstGeom>
          <a:solidFill>
            <a:srgbClr val="00F5D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96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Bangkok food discovery is rich in options—and poor in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742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DINERS + TOURISTS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42950" cy="38100"/>
          </a:xfrm>
          <a:prstGeom prst="rect">
            <a:avLst/>
          </a:prstGeom>
          <a:solidFill>
            <a:srgbClr val="FF4D8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0003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50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Sponsored noise looks like local truth.</a:t>
            </a:r>
          </a:p>
          <a:p>
            <a:endParaRPr sz="1425" b="0">
              <a:solidFill>
                <a:srgbClr val="F5F7FA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Broad categories fail queries such as “late-night café with parking.”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4D8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4D8D"/>
                </a:solidFill>
                <a:latin typeface="Aptos"/>
                <a:ea typeface="Aptos"/>
                <a:cs typeface="Aptos"/>
              </a:rPr>
              <a:t>REAL OR PAID?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3962400" y="1790700"/>
            <a:ext cx="9525" cy="4000500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742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2400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GUIDES + CREATORS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3409950"/>
            <a:ext cx="742950" cy="38100"/>
          </a:xfrm>
          <a:prstGeom prst="rect">
            <a:avLst/>
          </a:prstGeom>
          <a:solidFill>
            <a:srgbClr val="FF4D8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3714750"/>
            <a:ext cx="30003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03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High-quality reviews enrich global platforms.</a:t>
            </a:r>
          </a:p>
          <a:p>
            <a:endParaRPr sz="1425" b="0">
              <a:solidFill>
                <a:srgbClr val="F5F7FA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The creator receives points, badges—and zero revenue share.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267200" y="5448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4D8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4D8D"/>
                </a:solidFill>
                <a:latin typeface="Aptos"/>
                <a:ea typeface="Aptos"/>
                <a:cs typeface="Aptos"/>
              </a:rPr>
              <a:t>0% ECONOMIC UPSIDE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0" y="1790700"/>
            <a:ext cx="9525" cy="4000500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742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4D8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RESTAURANTS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28003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ROI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2-0016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3409950"/>
            <a:ext cx="742950" cy="38100"/>
          </a:xfrm>
          <a:prstGeom prst="rect">
            <a:avLst/>
          </a:prstGeom>
          <a:solidFill>
            <a:srgbClr val="FF4D8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2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3714750"/>
            <a:ext cx="30003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Ad spend rises without proof of an in-store visit.</a:t>
            </a:r>
          </a:p>
          <a:p>
            <a:endParaRPr sz="1425" b="0">
              <a:solidFill>
                <a:srgbClr val="F5F7FA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Delivery platforms can take up to 30% GP.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2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924800" y="5448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4D8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4D8D"/>
                </a:solidFill>
                <a:latin typeface="Aptos"/>
                <a:ea typeface="Aptos"/>
                <a:cs typeface="Aptos"/>
              </a:rPr>
              <a:t>UP TO 30% GP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2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The market rewards reach. TasteChain rewards verified contribution.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2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2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Problem statements and fee benchmark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8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One frictionless journey turns a meal into verified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866775" y="1962150"/>
            <a:ext cx="28575" cy="3505200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23850" cy="32385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206692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Natural-language discovery across 100,000+ restaurant records.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" y="2743200"/>
            <a:ext cx="323850" cy="32385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27908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2724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DINE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300037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Navigate to a venue through a LINE LIFF experience—no new app.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" y="3676650"/>
            <a:ext cx="323850" cy="32385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37242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3657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393382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GPS + receipt or PromptPay slip confirms a real visit.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14375" y="4610100"/>
            <a:ext cx="323850" cy="32385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" y="46577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EARN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1219200" y="486727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Publish a trusted review; reputation and rewards update automatically.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9535" r="9535"/>
          <a:stretch>
            <a:fillRect/>
          </a:stretch>
        </p:blipFill>
        <p:spPr>
          <a:xfrm>
            <a:off x="6610350" y="1704975"/>
            <a:ext cx="4972050" cy="40957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3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610350" y="1704975"/>
            <a:ext cx="4972050" cy="4095750"/>
          </a:xfrm>
          <a:prstGeom prst="rect">
            <a:avLst/>
          </a:prstGeom>
          <a:noFill/>
          <a:ln w="19050">
            <a:solidFill>
              <a:srgbClr val="00F5D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3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086600" y="5219700"/>
            <a:ext cx="4000500" cy="590550"/>
          </a:xfrm>
          <a:prstGeom prst="rect">
            <a:avLst/>
          </a:prstGeom>
          <a:solidFill>
            <a:srgbClr val="0B0F17">
              <a:alpha val="88000"/>
            </a:srgbClr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258050" y="5334000"/>
            <a:ext cx="1666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PROOF-OF-VISIT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7258050" y="5543550"/>
            <a:ext cx="3476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GPS  +  RECEIPT  =  VERIFIED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3-001A-4000-8000-000000000000}"/>
              </a:ext>
            </a:extLst>
          </p:cNvPr>
          <p:cNvSpPr>
            <a:spLocks noGrp="1"/>
          </p:cNvSpPr>
          <p:nvPr/>
        </p:nvSpPr>
        <p:spPr>
          <a:xfrm>
            <a:off x="9582150" y="5915025"/>
            <a:ext cx="2000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CONCEPTUAL PRODUCT VISUAL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3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3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Conceptual UI; product flow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WHY WE WIN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75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AI creates relevance; cryptographic rails create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arch-1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828800" cy="1981200"/>
          </a:xfrm>
          <a:prstGeom prst="rect">
            <a:avLst/>
          </a:prstGeom>
          <a:solidFill>
            <a:srgbClr val="141B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828800" cy="47625"/>
          </a:xfrm>
          <a:prstGeom prst="rect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RAW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100,000+ Bangkok restaurant records</a:t>
            </a:r>
          </a:p>
        </p:txBody>
      </p:sp>
      <p:sp>
        <p:nvSpPr>
          <p:cNvPr id="10" name="arch-2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2000250"/>
            <a:ext cx="1828800" cy="1981200"/>
          </a:xfrm>
          <a:prstGeom prst="rect">
            <a:avLst/>
          </a:prstGeom>
          <a:solidFill>
            <a:srgbClr val="141B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2000250"/>
            <a:ext cx="1828800" cy="47625"/>
          </a:xfrm>
          <a:prstGeom prst="rect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3009900" y="22002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3009900" y="2590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TASTE INTELLIGENCE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009900" y="32385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Micro-vibes, semantic search, route concierge</a:t>
            </a:r>
          </a:p>
        </p:txBody>
      </p:sp>
      <p:sp>
        <p:nvSpPr>
          <p:cNvPr id="15" name="arch-3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5105400" y="2000250"/>
            <a:ext cx="1828800" cy="1981200"/>
          </a:xfrm>
          <a:prstGeom prst="rect">
            <a:avLst/>
          </a:prstGeom>
          <a:solidFill>
            <a:srgbClr val="141B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105400" y="2000250"/>
            <a:ext cx="1828800" cy="47625"/>
          </a:xfrm>
          <a:prstGeom prst="rect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257800" y="22002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VISIT FORENSICS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OCR + vision + GPS anomaly checks</a:t>
            </a:r>
          </a:p>
        </p:txBody>
      </p:sp>
      <p:sp>
        <p:nvSpPr>
          <p:cNvPr id="20" name="arch-4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7353300" y="2000250"/>
            <a:ext cx="1828800" cy="1981200"/>
          </a:xfrm>
          <a:prstGeom prst="rect">
            <a:avLst/>
          </a:prstGeom>
          <a:solidFill>
            <a:srgbClr val="141B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7353300" y="2000250"/>
            <a:ext cx="1828800" cy="47625"/>
          </a:xfrm>
          <a:prstGeom prst="rect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4-0016-4000-8000-000000000000}"/>
              </a:ext>
            </a:extLst>
          </p:cNvPr>
          <p:cNvSpPr>
            <a:spLocks noGrp="1"/>
          </p:cNvSpPr>
          <p:nvPr/>
        </p:nvSpPr>
        <p:spPr>
          <a:xfrm>
            <a:off x="7505700" y="22002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4-0017-4000-8000-000000000000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VERIFIED GRAPH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4-0018-4000-8000-000000000000}"/>
              </a:ext>
            </a:extLst>
          </p:cNvPr>
          <p:cNvSpPr>
            <a:spLocks noGrp="1"/>
          </p:cNvSpPr>
          <p:nvPr/>
        </p:nvSpPr>
        <p:spPr>
          <a:xfrm>
            <a:off x="7505700" y="32385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Place, visit, review and reputation provenance</a:t>
            </a:r>
          </a:p>
        </p:txBody>
      </p:sp>
      <p:sp>
        <p:nvSpPr>
          <p:cNvPr id="25" name="arch-5">
            <a:extLst>
              <a:ext uri="{FF2B5EF4-FFF2-40B4-BE49-F238E27FC236}">
                <a16:creationId xmlns:a16="http://schemas.microsoft.com/office/drawing/2014/main" id="{00000004-0019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2000250"/>
            <a:ext cx="1828800" cy="1981200"/>
          </a:xfrm>
          <a:prstGeom prst="rect">
            <a:avLst/>
          </a:prstGeom>
          <a:solidFill>
            <a:srgbClr val="141B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4-001A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0" y="2000250"/>
            <a:ext cx="1828800" cy="47625"/>
          </a:xfrm>
          <a:prstGeom prst="rect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4-001B-4000-8000-000000000000}"/>
              </a:ext>
            </a:extLst>
          </p:cNvPr>
          <p:cNvSpPr>
            <a:spLocks noGrp="1"/>
          </p:cNvSpPr>
          <p:nvPr/>
        </p:nvSpPr>
        <p:spPr>
          <a:xfrm>
            <a:off x="9753600" y="22002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4-001C-4000-8000-000000000000}"/>
              </a:ext>
            </a:extLst>
          </p:cNvPr>
          <p:cNvSpPr>
            <a:spLocks noGrp="1"/>
          </p:cNvSpPr>
          <p:nvPr/>
        </p:nvSpPr>
        <p:spPr>
          <a:xfrm>
            <a:off x="9753600" y="2590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REWARD RAILS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4-001D-4000-8000-000000000000}"/>
              </a:ext>
            </a:extLst>
          </p:cNvPr>
          <p:cNvSpPr>
            <a:spLocks noGrp="1"/>
          </p:cNvSpPr>
          <p:nvPr/>
        </p:nvSpPr>
        <p:spPr>
          <a:xfrm>
            <a:off x="9753600" y="32385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37"/>
          </a:bodyPr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Bounties and revenue splits execute automatically</a:t>
            </a:r>
          </a:p>
        </p:txBody>
      </p:sp>
      <p:cxnSp>
        <p:nvCxnSpPr>
          <p:cNvPr id="30" name="Straight Arrow Connector 29"/>
          <p:cNvCxnSpPr>
            <a:stCxn id="5" idx="3"/>
            <a:endCxn id="10" idx="1"/>
          </p:cNvCxnSpPr>
          <p:nvPr/>
        </p:nvCxnSpPr>
        <p:spPr>
          <a:xfrm>
            <a:off x="2438400" y="2990850"/>
            <a:ext cx="419100" cy="0"/>
          </a:xfrm>
          <a:prstGeom prst="straightConnector1">
            <a:avLst/>
          </a:prstGeom>
          <a:ln w="28575">
            <a:solidFill>
              <a:srgbClr val="FF9F1C"/>
            </a:solidFill>
            <a:prstDash val="solid"/>
            <a:tailEnd type="triangle" w="sm" len="sm"/>
          </a:ln>
        </p:spPr>
      </p:cxnSp>
      <p:cxnSp>
        <p:nvCxnSpPr>
          <p:cNvPr id="31" name="Straight Arrow Connector 30"/>
          <p:cNvCxnSpPr>
            <a:stCxn id="10" idx="3"/>
            <a:endCxn id="15" idx="1"/>
          </p:cNvCxnSpPr>
          <p:nvPr/>
        </p:nvCxnSpPr>
        <p:spPr>
          <a:xfrm>
            <a:off x="4686300" y="2990850"/>
            <a:ext cx="419100" cy="0"/>
          </a:xfrm>
          <a:prstGeom prst="straightConnector1">
            <a:avLst/>
          </a:prstGeom>
          <a:ln w="28575">
            <a:solidFill>
              <a:srgbClr val="00F5D4"/>
            </a:solidFill>
            <a:prstDash val="solid"/>
            <a:tailEnd type="triangle" w="sm" len="sm"/>
          </a:ln>
        </p:spPr>
      </p:cxnSp>
      <p:cxnSp>
        <p:nvCxnSpPr>
          <p:cNvPr id="32" name="Straight Arrow Connector 31"/>
          <p:cNvCxnSpPr>
            <a:stCxn id="15" idx="3"/>
            <a:endCxn id="20" idx="1"/>
          </p:cNvCxnSpPr>
          <p:nvPr/>
        </p:nvCxnSpPr>
        <p:spPr>
          <a:xfrm>
            <a:off x="6934200" y="2990850"/>
            <a:ext cx="419100" cy="0"/>
          </a:xfrm>
          <a:prstGeom prst="straightConnector1">
            <a:avLst/>
          </a:prstGeom>
          <a:ln w="28575">
            <a:solidFill>
              <a:srgbClr val="FF9F1C"/>
            </a:solidFill>
            <a:prstDash val="solid"/>
            <a:tailEnd type="triangle" w="sm" len="sm"/>
          </a:ln>
        </p:spPr>
      </p:cxnSp>
      <p:cxnSp>
        <p:nvCxnSpPr>
          <p:cNvPr id="33" name="Straight Arrow Connector 32"/>
          <p:cNvCxnSpPr>
            <a:stCxn id="20" idx="3"/>
            <a:endCxn id="25" idx="1"/>
          </p:cNvCxnSpPr>
          <p:nvPr/>
        </p:nvCxnSpPr>
        <p:spPr>
          <a:xfrm>
            <a:off x="9182100" y="2990850"/>
            <a:ext cx="419100" cy="0"/>
          </a:xfrm>
          <a:prstGeom prst="straightConnector1">
            <a:avLst/>
          </a:prstGeom>
          <a:ln w="28575">
            <a:solidFill>
              <a:srgbClr val="FF9F1C"/>
            </a:solidFill>
            <a:prstDash val="solid"/>
            <a:tailEnd type="triangle" w="sm" len="sm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4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5 AI CAPABILITIES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04-001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4-0020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4905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Micro-vibe extraction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4-0021-4000-8000-000000000000}"/>
              </a:ext>
            </a:extLst>
          </p:cNvPr>
          <p:cNvSpPr>
            <a:spLocks noGrp="1"/>
          </p:cNvSpPr>
          <p:nvPr/>
        </p:nvSpPr>
        <p:spPr>
          <a:xfrm>
            <a:off x="2800350" y="48768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000004-0022-4000-8000-000000000000}"/>
              </a:ext>
            </a:extLst>
          </p:cNvPr>
          <p:cNvSpPr>
            <a:spLocks noGrp="1"/>
          </p:cNvSpPr>
          <p:nvPr/>
        </p:nvSpPr>
        <p:spPr>
          <a:xfrm>
            <a:off x="3124200" y="4905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Semantic trip planning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000004-0023-4000-8000-000000000000}"/>
              </a:ext>
            </a:extLst>
          </p:cNvPr>
          <p:cNvSpPr>
            <a:spLocks noGrp="1"/>
          </p:cNvSpPr>
          <p:nvPr/>
        </p:nvSpPr>
        <p:spPr>
          <a:xfrm>
            <a:off x="4991100" y="48768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000004-0024-4000-8000-000000000000}"/>
              </a:ext>
            </a:extLst>
          </p:cNvPr>
          <p:cNvSpPr>
            <a:spLocks noGrp="1"/>
          </p:cNvSpPr>
          <p:nvPr/>
        </p:nvSpPr>
        <p:spPr>
          <a:xfrm>
            <a:off x="5314950" y="4905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Receipt + image forensics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000004-0025-4000-8000-000000000000}"/>
              </a:ext>
            </a:extLst>
          </p:cNvPr>
          <p:cNvSpPr>
            <a:spLocks noGrp="1"/>
          </p:cNvSpPr>
          <p:nvPr/>
        </p:nvSpPr>
        <p:spPr>
          <a:xfrm>
            <a:off x="7181850" y="48768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000004-0026-4000-8000-000000000000}"/>
              </a:ext>
            </a:extLst>
          </p:cNvPr>
          <p:cNvSpPr>
            <a:spLocks noGrp="1"/>
          </p:cNvSpPr>
          <p:nvPr/>
        </p:nvSpPr>
        <p:spPr>
          <a:xfrm>
            <a:off x="7505700" y="4905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Creator co-pilot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000004-0027-4000-8000-000000000000}"/>
              </a:ext>
            </a:extLst>
          </p:cNvPr>
          <p:cNvSpPr>
            <a:spLocks noGrp="1"/>
          </p:cNvSpPr>
          <p:nvPr/>
        </p:nvSpPr>
        <p:spPr>
          <a:xfrm>
            <a:off x="9372600" y="48768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000004-0028-4000-8000-000000000000}"/>
              </a:ext>
            </a:extLst>
          </p:cNvPr>
          <p:cNvSpPr>
            <a:spLocks noGrp="1"/>
          </p:cNvSpPr>
          <p:nvPr/>
        </p:nvSpPr>
        <p:spPr>
          <a:xfrm>
            <a:off x="9696450" y="4905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Merchant autopilot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000004-002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000004-002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FAMILIAR UX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000004-002B-4000-8000-000000000000}"/>
              </a:ext>
            </a:extLst>
          </p:cNvPr>
          <p:cNvSpPr>
            <a:spLocks noGrp="1"/>
          </p:cNvSpPr>
          <p:nvPr/>
        </p:nvSpPr>
        <p:spPr>
          <a:xfrm>
            <a:off x="2162175" y="58293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LINE LIFF in front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0000004-002C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0" y="580072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INVISIBLE WEB3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000004-002D-4000-8000-000000000000}"/>
              </a:ext>
            </a:extLst>
          </p:cNvPr>
          <p:cNvSpPr>
            <a:spLocks noGrp="1"/>
          </p:cNvSpPr>
          <p:nvPr/>
        </p:nvSpPr>
        <p:spPr>
          <a:xfrm>
            <a:off x="8620125" y="5829300"/>
            <a:ext cx="2962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account abstraction • no seed phrase • no gas anxiety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0000004-002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000004-002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Architecture and dataset scale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NETWORK EFFECT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83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Every verified visit makes the network harder to copy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flywheel-1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1676400" cy="1676400"/>
          </a:xfrm>
          <a:prstGeom prst="ellipse">
            <a:avLst/>
          </a:prstGeom>
          <a:solidFill>
            <a:srgbClr val="141B26"/>
          </a:solidFill>
          <a:ln w="19050">
            <a:solidFill>
              <a:srgbClr val="34425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1295400" y="226695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47725" y="2895600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571500" y="4010025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AI answers a specific food intent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66750" y="473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BETTER MATCH</a:t>
            </a:r>
          </a:p>
        </p:txBody>
      </p:sp>
      <p:sp>
        <p:nvSpPr>
          <p:cNvPr id="10" name="flywheel-2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3467100" y="2076450"/>
            <a:ext cx="1676400" cy="1676400"/>
          </a:xfrm>
          <a:prstGeom prst="ellipse">
            <a:avLst/>
          </a:prstGeom>
          <a:solidFill>
            <a:srgbClr val="141B26"/>
          </a:solidFill>
          <a:ln w="19050">
            <a:solidFill>
              <a:srgbClr val="34425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057650" y="226695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3609975" y="2895600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DINE + VERIFY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3333750" y="4010025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Receipt and location prove the visit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473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MORE TRUST</a:t>
            </a:r>
          </a:p>
        </p:txBody>
      </p:sp>
      <p:sp>
        <p:nvSpPr>
          <p:cNvPr id="15" name="flywheel-3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2076450"/>
            <a:ext cx="1676400" cy="1676400"/>
          </a:xfrm>
          <a:prstGeom prst="ellipse">
            <a:avLst/>
          </a:prstGeom>
          <a:solidFill>
            <a:srgbClr val="141B26"/>
          </a:solidFill>
          <a:ln w="19050">
            <a:solidFill>
              <a:srgbClr val="34425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372225" y="2895600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CURATE + STAKE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4010025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Guides build category reputation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191250" y="473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RICHER GRAPH</a:t>
            </a:r>
          </a:p>
        </p:txBody>
      </p:sp>
      <p:sp>
        <p:nvSpPr>
          <p:cNvPr id="20" name="flywheel-4">
            <a:extLst>
              <a:ext uri="{FF2B5EF4-FFF2-40B4-BE49-F238E27FC236}">
                <a16:creationId xmlns:a16="http://schemas.microsoft.com/office/drawing/2014/main" id="{0000000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991600" y="2076450"/>
            <a:ext cx="1676400" cy="1676400"/>
          </a:xfrm>
          <a:prstGeom prst="ellipse">
            <a:avLst/>
          </a:prstGeom>
          <a:solidFill>
            <a:srgbClr val="141B26"/>
          </a:solidFill>
          <a:ln w="19050">
            <a:solidFill>
              <a:srgbClr val="34425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5-0015-4000-8000-000000000000}"/>
              </a:ext>
            </a:extLst>
          </p:cNvPr>
          <p:cNvSpPr>
            <a:spLocks noGrp="1"/>
          </p:cNvSpPr>
          <p:nvPr/>
        </p:nvSpPr>
        <p:spPr>
          <a:xfrm>
            <a:off x="9582150" y="226695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5-0016-4000-8000-000000000000}"/>
              </a:ext>
            </a:extLst>
          </p:cNvPr>
          <p:cNvSpPr>
            <a:spLocks noGrp="1"/>
          </p:cNvSpPr>
          <p:nvPr/>
        </p:nvSpPr>
        <p:spPr>
          <a:xfrm>
            <a:off x="9134475" y="2895600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MONETIZE + REWARD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5-0017-4000-8000-000000000000}"/>
              </a:ext>
            </a:extLst>
          </p:cNvPr>
          <p:cNvSpPr>
            <a:spLocks noGrp="1"/>
          </p:cNvSpPr>
          <p:nvPr/>
        </p:nvSpPr>
        <p:spPr>
          <a:xfrm>
            <a:off x="8858250" y="4010025"/>
            <a:ext cx="194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Merchants fund measured outcomes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5-0018-4000-8000-000000000000}"/>
              </a:ext>
            </a:extLst>
          </p:cNvPr>
          <p:cNvSpPr>
            <a:spLocks noGrp="1"/>
          </p:cNvSpPr>
          <p:nvPr/>
        </p:nvSpPr>
        <p:spPr>
          <a:xfrm>
            <a:off x="8953500" y="47339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REAL YIELD</a:t>
            </a:r>
          </a:p>
        </p:txBody>
      </p:sp>
      <p:cxnSp>
        <p:nvCxnSpPr>
          <p:cNvPr id="25" name="Straight Arrow Connector 24"/>
          <p:cNvCxnSpPr>
            <a:stCxn id="5" idx="6"/>
            <a:endCxn id="10" idx="2"/>
          </p:cNvCxnSpPr>
          <p:nvPr/>
        </p:nvCxnSpPr>
        <p:spPr>
          <a:xfrm>
            <a:off x="2381250" y="2914650"/>
            <a:ext cx="1085850" cy="0"/>
          </a:xfrm>
          <a:prstGeom prst="straightConnector1">
            <a:avLst/>
          </a:prstGeom>
          <a:ln w="38100">
            <a:solidFill>
              <a:srgbClr val="00F5D4"/>
            </a:solidFill>
            <a:prstDash val="solid"/>
            <a:tailEnd type="triangle" w="med" len="med"/>
          </a:ln>
        </p:spPr>
      </p:cxnSp>
      <p:cxnSp>
        <p:nvCxnSpPr>
          <p:cNvPr id="26" name="Straight Arrow Connector 25"/>
          <p:cNvCxnSpPr>
            <a:stCxn id="10" idx="6"/>
            <a:endCxn id="15" idx="2"/>
          </p:cNvCxnSpPr>
          <p:nvPr/>
        </p:nvCxnSpPr>
        <p:spPr>
          <a:xfrm>
            <a:off x="5143500" y="2914650"/>
            <a:ext cx="1085850" cy="0"/>
          </a:xfrm>
          <a:prstGeom prst="straightConnector1">
            <a:avLst/>
          </a:prstGeom>
          <a:ln w="38100">
            <a:solidFill>
              <a:srgbClr val="FF9F1C"/>
            </a:solidFill>
            <a:prstDash val="solid"/>
            <a:tailEnd type="triangle" w="med" len="med"/>
          </a:ln>
        </p:spPr>
      </p:cxnSp>
      <p:cxnSp>
        <p:nvCxnSpPr>
          <p:cNvPr id="27" name="Straight Arrow Connector 26"/>
          <p:cNvCxnSpPr>
            <a:stCxn id="15" idx="6"/>
            <a:endCxn id="20" idx="2"/>
          </p:cNvCxnSpPr>
          <p:nvPr/>
        </p:nvCxnSpPr>
        <p:spPr>
          <a:xfrm>
            <a:off x="7905750" y="2914650"/>
            <a:ext cx="1085850" cy="0"/>
          </a:xfrm>
          <a:prstGeom prst="straightConnector1">
            <a:avLst/>
          </a:prstGeom>
          <a:ln w="38100">
            <a:solidFill>
              <a:srgbClr val="FF9F1C"/>
            </a:solidFill>
            <a:prstDash val="solid"/>
            <a:tailEnd type="triangle" w="med" len="me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5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5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2552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COMPOUNDING ADVANTAGE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5-001B-4000-8000-000000000000}"/>
              </a:ext>
            </a:extLst>
          </p:cNvPr>
          <p:cNvSpPr>
            <a:spLocks noGrp="1"/>
          </p:cNvSpPr>
          <p:nvPr/>
        </p:nvSpPr>
        <p:spPr>
          <a:xfrm>
            <a:off x="3257550" y="5610225"/>
            <a:ext cx="832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More verified inventory  →  better matching  →  more merchant ROI  →  larger reward pool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5-001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5-001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Flywheel design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DIGITAL COLLECTIBLES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09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Reputation becomes a collectible—not a speculative token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11436" r="11436"/>
          <a:stretch>
            <a:fillRect/>
          </a:stretch>
        </p:blipFill>
        <p:spPr>
          <a:xfrm>
            <a:off x="6153150" y="1695450"/>
            <a:ext cx="5429250" cy="4171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429250" cy="4171950"/>
          </a:xfrm>
          <a:prstGeom prst="rect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153150" y="5086350"/>
            <a:ext cx="5429250" cy="781050"/>
          </a:xfrm>
          <a:prstGeom prst="rect">
            <a:avLst/>
          </a:prstGeom>
          <a:solidFill>
            <a:srgbClr val="0B0F17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5295900"/>
            <a:ext cx="489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STREET FOOD EXPLORER   •   COFFEE SPECIALIST   •   NOODLE PIONEER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434"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SOULBOUND FOOD REPUTATION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 portable record of verified contribution—earned through real visits, useful curation and category depth.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2133600" y="36385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Signal who has actually explored a cuisine or district.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2133600" y="445770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Unlock pioneer rights, curated quests and merchant bounties.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527685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2133600" y="52768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Build recognition without making reputation transferable.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Conceptual collectible art; utility model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MARKET WEDGE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059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 focused Bangkok wedge opens a large gastronomy market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WHY BANGKOK, WHY 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0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฿480B+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Thailand food &amp; beverage market / year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05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35M+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international visitors / year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0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150K+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restaurants across Bangkok metro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7029450" y="1857375"/>
            <a:ext cx="4000500" cy="4000500"/>
          </a:xfrm>
          <a:prstGeom prst="ellipse">
            <a:avLst/>
          </a:prstGeom>
          <a:solidFill>
            <a:srgbClr val="FF9F1C">
              <a:alpha val="10000"/>
            </a:srgbClr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7581900" y="2409825"/>
            <a:ext cx="2895600" cy="2895600"/>
          </a:xfrm>
          <a:prstGeom prst="ellipse">
            <a:avLst/>
          </a:prstGeom>
          <a:solidFill>
            <a:srgbClr val="00F5D4">
              <a:alpha val="11000"/>
            </a:srgbClr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153400" y="2981325"/>
            <a:ext cx="1752600" cy="175260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F5F7F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362825" y="223837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8134350" y="197167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4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฿480B+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962900" y="28956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248650" y="3219450"/>
            <a:ext cx="1562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฿15B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439150" y="3571875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SOM • 3Y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248650" y="3876675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20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฿150–300M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7-0015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49625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merchant marketing, promotions + CRM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7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7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Project market model; figures supplied in founder brief and require external validation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12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Revenue comes from merchant outcomes—not token inflation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STREAM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114800" y="169545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HOW IT MONETIZES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9296400" y="16954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PLATFORM ECONOMICS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181100" y="2066925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PAY-PER-VISIT BOUNTY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8-000B-4000-8000-000000000000}"/>
              </a:ext>
            </a:extLst>
          </p:cNvPr>
          <p:cNvSpPr>
            <a:spLocks noGrp="1"/>
          </p:cNvSpPr>
          <p:nvPr/>
        </p:nvSpPr>
        <p:spPr>
          <a:xfrm>
            <a:off x="4114800" y="2066925"/>
            <a:ext cx="4229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Merchant pays only after a verified visit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8-000C-4000-8000-000000000000}"/>
              </a:ext>
            </a:extLst>
          </p:cNvPr>
          <p:cNvSpPr>
            <a:spLocks noGrp="1"/>
          </p:cNvSpPr>
          <p:nvPr/>
        </p:nvSpPr>
        <p:spPr>
          <a:xfrm>
            <a:off x="8801100" y="20478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25% fee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8-000D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24003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75% to guide / diner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8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8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8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SMART VOUCHER + OFF-PEAK DEAL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8-0011-4000-8000-000000000000}"/>
              </a:ext>
            </a:extLst>
          </p:cNvPr>
          <p:cNvSpPr>
            <a:spLocks noGrp="1"/>
          </p:cNvSpPr>
          <p:nvPr/>
        </p:nvSpPr>
        <p:spPr>
          <a:xfrm>
            <a:off x="4114800" y="3009900"/>
            <a:ext cx="4229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Prepaid demand for quiet hours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8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801100" y="2990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10% commission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8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33432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~3× below 30% delivery GP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8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8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8-0016-4000-8000-000000000000}"/>
              </a:ext>
            </a:extLst>
          </p:cNvPr>
          <p:cNvSpPr>
            <a:spLocks noGrp="1"/>
          </p:cNvSpPr>
          <p:nvPr/>
        </p:nvSpPr>
        <p:spPr>
          <a:xfrm>
            <a:off x="1181100" y="3952875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MERCHANT PRO SAAS + CRM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8-0017-4000-8000-000000000000}"/>
              </a:ext>
            </a:extLst>
          </p:cNvPr>
          <p:cNvSpPr>
            <a:spLocks noGrp="1"/>
          </p:cNvSpPr>
          <p:nvPr/>
        </p:nvSpPr>
        <p:spPr>
          <a:xfrm>
            <a:off x="4114800" y="3952875"/>
            <a:ext cx="4229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AI replies, loyalty and local benchmarks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8-0018-4000-8000-000000000000}"/>
              </a:ext>
            </a:extLst>
          </p:cNvPr>
          <p:cNvSpPr>
            <a:spLocks noGrp="1"/>
          </p:cNvSpPr>
          <p:nvPr/>
        </p:nvSpPr>
        <p:spPr>
          <a:xfrm>
            <a:off x="8801100" y="39338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฿990 / month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8-0019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per merchant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8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8-001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8-001C-4000-8000-000000000000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2781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BRAND QUESTS + B2B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8-001D-4000-8000-000000000000}"/>
              </a:ext>
            </a:extLst>
          </p:cNvPr>
          <p:cNvSpPr>
            <a:spLocks noGrp="1"/>
          </p:cNvSpPr>
          <p:nvPr/>
        </p:nvSpPr>
        <p:spPr>
          <a:xfrm>
            <a:off x="4114800" y="4895850"/>
            <a:ext cx="4229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Stamp rallies and quarterly insight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8-001E-4000-8000-000000000000}"/>
              </a:ext>
            </a:extLst>
          </p:cNvPr>
          <p:cNvSpPr>
            <a:spLocks noGrp="1"/>
          </p:cNvSpPr>
          <p:nvPr/>
        </p:nvSpPr>
        <p:spPr>
          <a:xfrm>
            <a:off x="8801100" y="487680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Campaign + 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8-001F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52292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sponsorship / subscription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8-002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8-002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0102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REAL-WORLD REVENUE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8-0022-4000-8000-000000000000}"/>
              </a:ext>
            </a:extLst>
          </p:cNvPr>
          <p:cNvSpPr>
            <a:spLocks noGrp="1"/>
          </p:cNvSpPr>
          <p:nvPr/>
        </p:nvSpPr>
        <p:spPr>
          <a:xfrm>
            <a:off x="3257550" y="5962650"/>
            <a:ext cx="832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37"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Merchant ROI funds creator rewards and protocol revenue in the same transaction.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08-002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8-002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Pricing assumptions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20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TasteChain owns the missing trust-and-reward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609600" y="1809750"/>
          <a:ext cx="10972800" cy="37147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75" b="1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CAPABILITY</a:t>
                      </a:r>
                    </a:p>
                  </a:txBody>
                  <a:tcPr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GOOGLE MAPS</a:t>
                      </a:r>
                    </a:p>
                  </a:txBody>
                  <a:tcPr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LEGACY FOOD APPS</a:t>
                      </a:r>
                    </a:p>
                  </a:txBody>
                  <a:tcPr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TIKTOK / IG</a:t>
                      </a:r>
                    </a:p>
                  </a:txBody>
                  <a:tcPr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>
                          <a:solidFill>
                            <a:srgbClr val="FF9F1C"/>
                          </a:solidFill>
                          <a:latin typeface="Aptos"/>
                          <a:ea typeface="Aptos"/>
                          <a:cs typeface="Aptos"/>
                        </a:rPr>
                        <a:t>TASTECHAIN BKK</a:t>
                      </a:r>
                    </a:p>
                  </a:txBody>
                  <a:tcPr>
                    <a:solidFill>
                      <a:srgbClr val="1B2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75" b="1">
                          <a:solidFill>
                            <a:srgbClr val="F5F7FA"/>
                          </a:solidFill>
                          <a:latin typeface="Aptos"/>
                          <a:ea typeface="Aptos"/>
                          <a:cs typeface="Aptos"/>
                        </a:rPr>
                        <a:t>Deep AI micro-vibe search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LIMITED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00F5D4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>
                    <a:solidFill>
                      <a:srgbClr val="00F5D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75" b="1">
                          <a:solidFill>
                            <a:srgbClr val="F5F7FA"/>
                          </a:solidFill>
                          <a:latin typeface="Aptos"/>
                          <a:ea typeface="Aptos"/>
                          <a:cs typeface="Aptos"/>
                        </a:rPr>
                        <a:t>Proof-of-visit review integrity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00F5D4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>
                    <a:solidFill>
                      <a:srgbClr val="00F5D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75" b="1">
                          <a:solidFill>
                            <a:srgbClr val="F5F7FA"/>
                          </a:solidFill>
                          <a:latin typeface="Aptos"/>
                          <a:ea typeface="Aptos"/>
                          <a:cs typeface="Aptos"/>
                        </a:rPr>
                        <a:t>Revenue share for reviewers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LIMITED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00F5D4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>
                    <a:solidFill>
                      <a:srgbClr val="00F5D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75" b="1">
                          <a:solidFill>
                            <a:srgbClr val="F5F7FA"/>
                          </a:solidFill>
                          <a:latin typeface="Aptos"/>
                          <a:ea typeface="Aptos"/>
                          <a:cs typeface="Aptos"/>
                        </a:rPr>
                        <a:t>Pay only for verified visits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rgbClr val="AAB4C3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141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00F5D4"/>
                          </a:solidFill>
                          <a:latin typeface="Aptos"/>
                          <a:ea typeface="Aptos"/>
                          <a:cs typeface="Aptos"/>
                        </a:rPr>
                        <a:t>YES</a:t>
                      </a:r>
                    </a:p>
                  </a:txBody>
                  <a:tcPr>
                    <a:solidFill>
                      <a:srgbClr val="00F5D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9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9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THE OPEN 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9-0007-4000-8000-000000000000}"/>
              </a:ext>
            </a:extLst>
          </p:cNvPr>
          <p:cNvSpPr>
            <a:spLocks noGrp="1"/>
          </p:cNvSpPr>
          <p:nvPr/>
        </p:nvSpPr>
        <p:spPr>
          <a:xfrm>
            <a:off x="2838450" y="5972175"/>
            <a:ext cx="874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AI relevance  ×  verified truth  ×  shared economics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9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9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Qualitative comparison from project brief; no third-party endorsements implied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000000A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A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Win three food districts—then expand city-wide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A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A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A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BOWLING-PIN STRATEGY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A-0006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3781425"/>
            <a:ext cx="10287000" cy="28575"/>
          </a:xfrm>
          <a:prstGeom prst="rect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A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M01–03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A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SEED THE NICHE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A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3 food districts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2 high-intent categories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500 Genesis Guides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00000A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266700" cy="2667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A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28675" y="36861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A-000C-4000-8000-000000000000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A-000D-4000-8000-000000000000}"/>
              </a:ext>
            </a:extLst>
          </p:cNvPr>
          <p:cNvSpPr>
            <a:spLocks noGrp="1"/>
          </p:cNvSpPr>
          <p:nvPr/>
        </p:nvSpPr>
        <p:spPr>
          <a:xfrm>
            <a:off x="3352800" y="2114550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M04–06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A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352800" y="25050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GAMIFY TRAFFIC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A-000F-4000-8000-000000000000}"/>
              </a:ext>
            </a:extLst>
          </p:cNvPr>
          <p:cNvSpPr>
            <a:spLocks noGrp="1"/>
          </p:cNvSpPr>
          <p:nvPr/>
        </p:nvSpPr>
        <p:spPr>
          <a:xfrm>
            <a:off x="3352800" y="304800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Food Stamp Rally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“Hidden spots by BTS”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Claim-your-profile loop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00000A-0010-4000-8000-000000000000}"/>
              </a:ext>
            </a:extLst>
          </p:cNvPr>
          <p:cNvSpPr>
            <a:spLocks noGrp="1"/>
          </p:cNvSpPr>
          <p:nvPr/>
        </p:nvSpPr>
        <p:spPr>
          <a:xfrm>
            <a:off x="3543300" y="3657600"/>
            <a:ext cx="266700" cy="2667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A-0011-4000-8000-000000000000}"/>
              </a:ext>
            </a:extLst>
          </p:cNvPr>
          <p:cNvSpPr>
            <a:spLocks noGrp="1"/>
          </p:cNvSpPr>
          <p:nvPr/>
        </p:nvSpPr>
        <p:spPr>
          <a:xfrm>
            <a:off x="3571875" y="36861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A-0012-4000-8000-000000000000}"/>
              </a:ext>
            </a:extLst>
          </p:cNvPr>
          <p:cNvSpPr>
            <a:spLocks noGrp="1"/>
          </p:cNvSpPr>
          <p:nvPr/>
        </p:nvSpPr>
        <p:spPr>
          <a:xfrm>
            <a:off x="5619750" y="36385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A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2114550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M07–09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A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25050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MONETIZE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A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Launch merchant bounties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Verified Street Food Pass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Tourist + expat wedge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00000A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266700" cy="2667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A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315075" y="36861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A-0018-4000-8000-000000000000}"/>
              </a:ext>
            </a:extLst>
          </p:cNvPr>
          <p:cNvSpPr>
            <a:spLocks noGrp="1"/>
          </p:cNvSpPr>
          <p:nvPr/>
        </p:nvSpPr>
        <p:spPr>
          <a:xfrm>
            <a:off x="8362950" y="363855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A-0019-4000-8000-000000000000}"/>
              </a:ext>
            </a:extLst>
          </p:cNvPr>
          <p:cNvSpPr>
            <a:spLocks noGrp="1"/>
          </p:cNvSpPr>
          <p:nvPr/>
        </p:nvSpPr>
        <p:spPr>
          <a:xfrm>
            <a:off x="8839200" y="2114550"/>
            <a:ext cx="2133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M10–12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A-001A-4000-8000-000000000000}"/>
              </a:ext>
            </a:extLst>
          </p:cNvPr>
          <p:cNvSpPr>
            <a:spLocks noGrp="1"/>
          </p:cNvSpPr>
          <p:nvPr/>
        </p:nvSpPr>
        <p:spPr>
          <a:xfrm>
            <a:off x="8839200" y="25050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SCALE + B2B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A-001B-4000-8000-000000000000}"/>
              </a:ext>
            </a:extLst>
          </p:cNvPr>
          <p:cNvSpPr>
            <a:spLocks noGrp="1"/>
          </p:cNvSpPr>
          <p:nvPr/>
        </p:nvSpPr>
        <p:spPr>
          <a:xfrm>
            <a:off x="8839200" y="304800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Expand business districts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On-chain food awards</a:t>
            </a: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Sell insight subscriptions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00000A-001C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3657600"/>
            <a:ext cx="266700" cy="2667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A-001D-4000-8000-000000000000}"/>
              </a:ext>
            </a:extLst>
          </p:cNvPr>
          <p:cNvSpPr>
            <a:spLocks noGrp="1"/>
          </p:cNvSpPr>
          <p:nvPr/>
        </p:nvSpPr>
        <p:spPr>
          <a:xfrm>
            <a:off x="9058275" y="36861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B0F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F1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A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FIRST THREE PINS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00000A-001F-4000-8000-000000000000}"/>
              </a:ext>
            </a:extLst>
          </p:cNvPr>
          <p:cNvSpPr>
            <a:spLocks noGrp="1"/>
          </p:cNvSpPr>
          <p:nvPr/>
        </p:nvSpPr>
        <p:spPr>
          <a:xfrm>
            <a:off x="895350" y="4819650"/>
            <a:ext cx="152400" cy="1524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A-0020-4000-8000-000000000000}"/>
              </a:ext>
            </a:extLst>
          </p:cNvPr>
          <p:cNvSpPr>
            <a:spLocks noGrp="1"/>
          </p:cNvSpPr>
          <p:nvPr/>
        </p:nvSpPr>
        <p:spPr>
          <a:xfrm>
            <a:off x="419100" y="509587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BANTHAT THONG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000000A-0021-4000-8000-000000000000}"/>
              </a:ext>
            </a:extLst>
          </p:cNvPr>
          <p:cNvSpPr>
            <a:spLocks noGrp="1"/>
          </p:cNvSpPr>
          <p:nvPr/>
        </p:nvSpPr>
        <p:spPr>
          <a:xfrm>
            <a:off x="2552700" y="4819650"/>
            <a:ext cx="152400" cy="1524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A-0022-4000-8000-000000000000}"/>
              </a:ext>
            </a:extLst>
          </p:cNvPr>
          <p:cNvSpPr>
            <a:spLocks noGrp="1"/>
          </p:cNvSpPr>
          <p:nvPr/>
        </p:nvSpPr>
        <p:spPr>
          <a:xfrm>
            <a:off x="2076450" y="509587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SONG WAT / YAOWARAT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00000A-0023-4000-8000-000000000000}"/>
              </a:ext>
            </a:extLst>
          </p:cNvPr>
          <p:cNvSpPr>
            <a:spLocks noGrp="1"/>
          </p:cNvSpPr>
          <p:nvPr/>
        </p:nvSpPr>
        <p:spPr>
          <a:xfrm>
            <a:off x="4514850" y="4819650"/>
            <a:ext cx="152400" cy="15240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A-0024-4000-8000-000000000000}"/>
              </a:ext>
            </a:extLst>
          </p:cNvPr>
          <p:cNvSpPr>
            <a:spLocks noGrp="1"/>
          </p:cNvSpPr>
          <p:nvPr/>
        </p:nvSpPr>
        <p:spPr>
          <a:xfrm>
            <a:off x="4038600" y="509587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A-0025-4000-8000-000000000000}"/>
              </a:ext>
            </a:extLst>
          </p:cNvPr>
          <p:cNvSpPr>
            <a:spLocks noGrp="1"/>
          </p:cNvSpPr>
          <p:nvPr/>
        </p:nvSpPr>
        <p:spPr>
          <a:xfrm>
            <a:off x="5657850" y="4895850"/>
            <a:ext cx="5619750" cy="19050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00000A-0026-4000-8000-000000000000}"/>
              </a:ext>
            </a:extLst>
          </p:cNvPr>
          <p:cNvSpPr>
            <a:spLocks noGrp="1"/>
          </p:cNvSpPr>
          <p:nvPr/>
        </p:nvSpPr>
        <p:spPr>
          <a:xfrm>
            <a:off x="5867400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000000A-0027-4000-8000-000000000000}"/>
              </a:ext>
            </a:extLst>
          </p:cNvPr>
          <p:cNvSpPr>
            <a:spLocks noGrp="1"/>
          </p:cNvSpPr>
          <p:nvPr/>
        </p:nvSpPr>
        <p:spPr>
          <a:xfrm>
            <a:off x="6467475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000000A-0028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000000A-0029-4000-8000-000000000000}"/>
              </a:ext>
            </a:extLst>
          </p:cNvPr>
          <p:cNvSpPr>
            <a:spLocks noGrp="1"/>
          </p:cNvSpPr>
          <p:nvPr/>
        </p:nvSpPr>
        <p:spPr>
          <a:xfrm>
            <a:off x="7667625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000000A-002A-4000-8000-000000000000}"/>
              </a:ext>
            </a:extLst>
          </p:cNvPr>
          <p:cNvSpPr>
            <a:spLocks noGrp="1"/>
          </p:cNvSpPr>
          <p:nvPr/>
        </p:nvSpPr>
        <p:spPr>
          <a:xfrm>
            <a:off x="8267700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000000A-002B-4000-8000-000000000000}"/>
              </a:ext>
            </a:extLst>
          </p:cNvPr>
          <p:cNvSpPr>
            <a:spLocks noGrp="1"/>
          </p:cNvSpPr>
          <p:nvPr/>
        </p:nvSpPr>
        <p:spPr>
          <a:xfrm>
            <a:off x="8867775" y="4572000"/>
            <a:ext cx="114300" cy="11430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000000A-002C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45910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000000A-002D-4000-8000-000000000000}"/>
              </a:ext>
            </a:extLst>
          </p:cNvPr>
          <p:cNvSpPr>
            <a:spLocks noGrp="1"/>
          </p:cNvSpPr>
          <p:nvPr/>
        </p:nvSpPr>
        <p:spPr>
          <a:xfrm>
            <a:off x="10086975" y="45910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000000A-002E-4000-8000-000000000000}"/>
              </a:ext>
            </a:extLst>
          </p:cNvPr>
          <p:cNvSpPr>
            <a:spLocks noGrp="1"/>
          </p:cNvSpPr>
          <p:nvPr/>
        </p:nvSpPr>
        <p:spPr>
          <a:xfrm>
            <a:off x="10687050" y="45910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00000A-002F-4000-8000-000000000000}"/>
              </a:ext>
            </a:extLst>
          </p:cNvPr>
          <p:cNvSpPr>
            <a:spLocks noGrp="1"/>
          </p:cNvSpPr>
          <p:nvPr/>
        </p:nvSpPr>
        <p:spPr>
          <a:xfrm>
            <a:off x="5886450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000000A-0030-4000-8000-000000000000}"/>
              </a:ext>
            </a:extLst>
          </p:cNvPr>
          <p:cNvSpPr>
            <a:spLocks noGrp="1"/>
          </p:cNvSpPr>
          <p:nvPr/>
        </p:nvSpPr>
        <p:spPr>
          <a:xfrm>
            <a:off x="6486525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00000A-0031-4000-8000-000000000000}"/>
              </a:ext>
            </a:extLst>
          </p:cNvPr>
          <p:cNvSpPr>
            <a:spLocks noGrp="1"/>
          </p:cNvSpPr>
          <p:nvPr/>
        </p:nvSpPr>
        <p:spPr>
          <a:xfrm>
            <a:off x="7086600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00000A-0032-4000-8000-000000000000}"/>
              </a:ext>
            </a:extLst>
          </p:cNvPr>
          <p:cNvSpPr>
            <a:spLocks noGrp="1"/>
          </p:cNvSpPr>
          <p:nvPr/>
        </p:nvSpPr>
        <p:spPr>
          <a:xfrm>
            <a:off x="7686675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000000A-0033-4000-8000-000000000000}"/>
              </a:ext>
            </a:extLst>
          </p:cNvPr>
          <p:cNvSpPr>
            <a:spLocks noGrp="1"/>
          </p:cNvSpPr>
          <p:nvPr/>
        </p:nvSpPr>
        <p:spPr>
          <a:xfrm>
            <a:off x="8286750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000000A-0034-4000-8000-000000000000}"/>
              </a:ext>
            </a:extLst>
          </p:cNvPr>
          <p:cNvSpPr>
            <a:spLocks noGrp="1"/>
          </p:cNvSpPr>
          <p:nvPr/>
        </p:nvSpPr>
        <p:spPr>
          <a:xfrm>
            <a:off x="8886825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000000A-0035-4000-8000-000000000000}"/>
              </a:ext>
            </a:extLst>
          </p:cNvPr>
          <p:cNvSpPr>
            <a:spLocks noGrp="1"/>
          </p:cNvSpPr>
          <p:nvPr/>
        </p:nvSpPr>
        <p:spPr>
          <a:xfrm>
            <a:off x="9486900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000000A-0036-4000-8000-000000000000}"/>
              </a:ext>
            </a:extLst>
          </p:cNvPr>
          <p:cNvSpPr>
            <a:spLocks noGrp="1"/>
          </p:cNvSpPr>
          <p:nvPr/>
        </p:nvSpPr>
        <p:spPr>
          <a:xfrm>
            <a:off x="10086975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000000A-0037-4000-8000-000000000000}"/>
              </a:ext>
            </a:extLst>
          </p:cNvPr>
          <p:cNvSpPr>
            <a:spLocks noGrp="1"/>
          </p:cNvSpPr>
          <p:nvPr/>
        </p:nvSpPr>
        <p:spPr>
          <a:xfrm>
            <a:off x="10687050" y="5124450"/>
            <a:ext cx="76200" cy="76200"/>
          </a:xfrm>
          <a:prstGeom prst="ellipse">
            <a:avLst/>
          </a:prstGeom>
          <a:solidFill>
            <a:srgbClr val="5C6878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00000A-0038-4000-8000-000000000000}"/>
              </a:ext>
            </a:extLst>
          </p:cNvPr>
          <p:cNvSpPr>
            <a:spLocks noGrp="1"/>
          </p:cNvSpPr>
          <p:nvPr/>
        </p:nvSpPr>
        <p:spPr>
          <a:xfrm>
            <a:off x="5657850" y="5543550"/>
            <a:ext cx="2609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FROM 3 DENSE COMMUNITIES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00000A-0039-4000-8000-000000000000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2990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TO A CITY-WIDE VERIFIED GRAPH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000000A-003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000000A-003B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12-month GTM targets from project brief</a:t>
            </a:r>
          </a:p>
        </p:txBody>
      </p:sp>
    </p:spTree>
    <p:extLst>
      <p:ext uri="{BB962C8B-B14F-4D97-AF65-F5344CB8AC3E}">
        <p14:creationId xmlns:p14="http://schemas.microsoft.com/office/powerpoint/2010/main" val="1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B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YEAR-ONE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B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12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&lt;1% merchant conversion supports a ฿6.12M revenue target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B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B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B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NET PLATFORM REVENUE BY QUARTER  •  ฿ MILLION</a:t>
            </a:r>
          </a:p>
        </p:txBody>
      </p:sp>
      <p:graphicFrame>
        <p:nvGraphicFramePr>
          <p:cNvPr id="6" name="Chart" descr="Chart"/>
          <p:cNvGraphicFramePr/>
          <p:nvPr/>
        </p:nvGraphicFramePr>
        <p:xfrm>
          <a:off x="609600" y="2085975"/>
          <a:ext cx="6762750" cy="348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B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001000" y="1857375"/>
            <a:ext cx="3581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45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฿6.12M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B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001000" y="2590800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YEAR-ONE NET REVENUE TARGET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B-0008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086100"/>
            <a:ext cx="356235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B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2004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150K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B-000A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32480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monthly active users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B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771900"/>
            <a:ext cx="356235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B-000C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8862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5K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B-000D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39338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active local guides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B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4457700"/>
            <a:ext cx="356235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B-000F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45720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3K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B-0010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46196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claimed merchants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B-0011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5143500"/>
            <a:ext cx="356235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B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52578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F5D4"/>
                </a:solidFill>
                <a:latin typeface="Aptos Display"/>
                <a:ea typeface="Aptos Display"/>
                <a:cs typeface="Aptos Display"/>
              </a:rPr>
              <a:t>750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B-0013-4000-8000-000000000000}"/>
              </a:ext>
            </a:extLst>
          </p:cNvPr>
          <p:cNvSpPr>
            <a:spLocks noGrp="1"/>
          </p:cNvSpPr>
          <p:nvPr/>
        </p:nvSpPr>
        <p:spPr>
          <a:xfrm>
            <a:off x="9277350" y="53054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paying merchants  •  0.75% of dataset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B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B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81775"/>
            <a:ext cx="952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C6878"/>
                </a:solidFill>
                <a:latin typeface="Aptos"/>
                <a:ea typeface="Aptos"/>
                <a:cs typeface="Aptos"/>
              </a:rPr>
              <a:t>Founder-provided target model; quarterly values sum to ฿6.12M and are not actual results</a:t>
            </a:r>
          </a:p>
        </p:txBody>
      </p:sp>
    </p:spTree>
    <p:extLst>
      <p:ext uri="{BB962C8B-B14F-4D97-AF65-F5344CB8AC3E}">
        <p14:creationId xmlns:p14="http://schemas.microsoft.com/office/powerpoint/2010/main" val="11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C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TEAM + ASK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C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28"/>
          </a:bodyPr>
          <a:lstStyle/>
          <a:p>
            <a:pPr algn="l">
              <a:lnSpc>
                <a:spcPct val="92000"/>
              </a:lnSpc>
              <a:buNone/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Back the protocol that makes Bangkok taste verifiable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C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C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3810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C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19800" y="1752600"/>
            <a:ext cx="9525" cy="3905250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C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BUILD LEAD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0000C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1028700" cy="1028700"/>
          </a:xfrm>
          <a:prstGeom prst="ellipse">
            <a:avLst/>
          </a:prstGeom>
          <a:solidFill>
            <a:srgbClr val="141B26"/>
          </a:solidFill>
          <a:ln w="28575">
            <a:solidFill>
              <a:srgbClr val="FF9F1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C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102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SL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C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885950" y="220980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Somboon Lim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C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885950" y="2676525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9F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9F1C"/>
                </a:solidFill>
                <a:latin typeface="Aptos"/>
                <a:ea typeface="Aptos"/>
                <a:cs typeface="Aptos"/>
              </a:rPr>
              <a:t>Developer  •  Product &amp; Engineering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00000C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" y="3667125"/>
            <a:ext cx="95250" cy="9525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C-000C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4457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Full-stack product + LINE LIFF experience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00000C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" y="4219575"/>
            <a:ext cx="95250" cy="95250"/>
          </a:xfrm>
          <a:prstGeom prst="ellipse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C-000E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4457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AI enrichment, OCR and data pipelines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00000C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76275" y="4772025"/>
            <a:ext cx="95250" cy="95250"/>
          </a:xfrm>
          <a:prstGeom prst="ellipse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C-0010-4000-8000-000000000000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4457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Smart contracts + account abstraction UX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C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3238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GROWTH + MERCHANT PARTNERSHIPS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C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AAB4C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AAB4C3"/>
                </a:solidFill>
                <a:latin typeface="Aptos Display"/>
                <a:ea typeface="Aptos Display"/>
                <a:cs typeface="Aptos Display"/>
              </a:rPr>
              <a:t>Open strategic role / partner network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C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17907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C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21907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Ecosystem grant</a:t>
            </a:r>
          </a:p>
          <a:p>
            <a:pPr algn="l">
              <a:lnSpc>
                <a:spcPct val="94000"/>
              </a:lnSpc>
              <a:buNone/>
              <a:def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or strategic partners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C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32956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C68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878"/>
                </a:solidFill>
                <a:latin typeface="Aptos"/>
                <a:ea typeface="Aptos"/>
                <a:cs typeface="Aptos"/>
              </a:rPr>
              <a:t>INDICATIVE RANGE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C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35623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฿3–5M  /  $100–150K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C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41338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Blockchain infrastructure  •  payments  •  restaurant networks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C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4876800"/>
            <a:ext cx="1371600" cy="47625"/>
          </a:xfrm>
          <a:prstGeom prst="rect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C-0019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506730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35%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00000C-001A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5514975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PRODUCT + AI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0000C-001B-4000-8000-000000000000}"/>
              </a:ext>
            </a:extLst>
          </p:cNvPr>
          <p:cNvSpPr>
            <a:spLocks noGrp="1"/>
          </p:cNvSpPr>
          <p:nvPr/>
        </p:nvSpPr>
        <p:spPr>
          <a:xfrm>
            <a:off x="8210550" y="4876800"/>
            <a:ext cx="1371600" cy="47625"/>
          </a:xfrm>
          <a:prstGeom prst="rect">
            <a:avLst/>
          </a:prstGeom>
          <a:solidFill>
            <a:srgbClr val="FF9F1C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00000C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210550" y="506730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40%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00000C-001D-4000-8000-000000000000}"/>
              </a:ext>
            </a:extLst>
          </p:cNvPr>
          <p:cNvSpPr>
            <a:spLocks noGrp="1"/>
          </p:cNvSpPr>
          <p:nvPr/>
        </p:nvSpPr>
        <p:spPr>
          <a:xfrm>
            <a:off x="8210550" y="5514975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GROWTH + BOUNTIES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00000C-001E-4000-8000-000000000000}"/>
              </a:ext>
            </a:extLst>
          </p:cNvPr>
          <p:cNvSpPr>
            <a:spLocks noGrp="1"/>
          </p:cNvSpPr>
          <p:nvPr/>
        </p:nvSpPr>
        <p:spPr>
          <a:xfrm>
            <a:off x="9867900" y="4876800"/>
            <a:ext cx="1371600" cy="47625"/>
          </a:xfrm>
          <a:prstGeom prst="rect">
            <a:avLst/>
          </a:prstGeom>
          <a:solidFill>
            <a:srgbClr val="00F5D4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00000C-001F-4000-8000-000000000000}"/>
              </a:ext>
            </a:extLst>
          </p:cNvPr>
          <p:cNvSpPr>
            <a:spLocks noGrp="1"/>
          </p:cNvSpPr>
          <p:nvPr/>
        </p:nvSpPr>
        <p:spPr>
          <a:xfrm>
            <a:off x="9867900" y="5067300"/>
            <a:ext cx="1371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25%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00C-0020-4000-8000-000000000000}"/>
              </a:ext>
            </a:extLst>
          </p:cNvPr>
          <p:cNvSpPr>
            <a:spLocks noGrp="1"/>
          </p:cNvSpPr>
          <p:nvPr/>
        </p:nvSpPr>
        <p:spPr>
          <a:xfrm>
            <a:off x="9867900" y="5514975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MERCHANT OPS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00000C-002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9525"/>
          </a:xfrm>
          <a:prstGeom prst="rect">
            <a:avLst/>
          </a:prstGeom>
          <a:solidFill>
            <a:srgbClr val="1B2533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C-002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9F1C"/>
                </a:solidFill>
                <a:latin typeface="Aptos Display"/>
                <a:ea typeface="Aptos Display"/>
                <a:cs typeface="Aptos Display"/>
              </a:rPr>
              <a:t>MAKE BANGKOK THE WORLD’S MOST TRUSTED FOOD GRAPH.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0C-0023-4000-8000-000000000000}"/>
              </a:ext>
            </a:extLst>
          </p:cNvPr>
          <p:cNvSpPr>
            <a:spLocks noGrp="1"/>
          </p:cNvSpPr>
          <p:nvPr/>
        </p:nvSpPr>
        <p:spPr>
          <a:xfrm>
            <a:off x="10096500" y="6315075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00F5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5D4"/>
                </a:solidFill>
                <a:latin typeface="Aptos"/>
                <a:ea typeface="Aptos"/>
                <a:cs typeface="Aptos"/>
              </a:rPr>
              <a:t>TASTECHAIN BKK</a:t>
            </a:r>
          </a:p>
        </p:txBody>
      </p:sp>
    </p:spTree>
    <p:extLst>
      <p:ext uri="{BB962C8B-B14F-4D97-AF65-F5344CB8AC3E}">
        <p14:creationId xmlns:p14="http://schemas.microsoft.com/office/powerpoint/2010/main" val="12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2026-10-14T08:23:00Z</dcterms:created>
  <dcterms:modified xsi:type="dcterms:W3CDTF">2026-10-14T08:47:05Z</dcterms:modified>
</cp:coreProperties>
</file>